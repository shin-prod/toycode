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中国の歴史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東アジアの古代文明から現代まで</a:t>
            </a:r>
          </a:p>
          <a:p/>
          <a:p>
            <a:r>
              <a:t>主要な時代：</a:t>
            </a:r>
          </a:p>
          <a:p>
            <a:r>
              <a:t>・古代中国</a:t>
            </a:r>
          </a:p>
          <a:p>
            <a:r>
              <a:t>・帝国時代</a:t>
            </a:r>
          </a:p>
          <a:p>
            <a:r>
              <a:t>・近代中国</a:t>
            </a:r>
          </a:p>
          <a:p>
            <a:r>
              <a:t>・現代中国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C83232"/>
          </a:solidFill>
          <a:ln>
            <a:solidFill>
              <a:srgbClr val="96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3886200"/>
            <a:ext cx="731520" cy="731520"/>
          </a:xfrm>
          <a:prstGeom prst="ellipse">
            <a:avLst/>
          </a:prstGeom>
          <a:solidFill>
            <a:srgbClr val="FFD700"/>
          </a:solidFill>
          <a:ln w="381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古代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3886200"/>
            <a:ext cx="731520" cy="731520"/>
          </a:xfrm>
          <a:prstGeom prst="ellipse">
            <a:avLst/>
          </a:prstGeom>
          <a:solidFill>
            <a:srgbClr val="FFD700"/>
          </a:solidFill>
          <a:ln w="381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754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帝国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3886200"/>
            <a:ext cx="731520" cy="731520"/>
          </a:xfrm>
          <a:prstGeom prst="ellipse">
            <a:avLst/>
          </a:prstGeom>
          <a:solidFill>
            <a:srgbClr val="FFD700"/>
          </a:solidFill>
          <a:ln w="381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近代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886200"/>
            <a:ext cx="731520" cy="731520"/>
          </a:xfrm>
          <a:prstGeom prst="ellipse">
            <a:avLst/>
          </a:prstGeom>
          <a:solidFill>
            <a:srgbClr val="FFD700"/>
          </a:solidFill>
          <a:ln w="381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現代</a:t>
            </a:r>
          </a:p>
        </p:txBody>
      </p:sp>
      <p:sp>
        <p:nvSpPr>
          <p:cNvPr id="13" name="Can 12"/>
          <p:cNvSpPr/>
          <p:nvPr/>
        </p:nvSpPr>
        <p:spPr>
          <a:xfrm>
            <a:off x="7315200" y="5029200"/>
            <a:ext cx="1371600" cy="457200"/>
          </a:xfrm>
          <a:prstGeom prst="can">
            <a:avLst/>
          </a:prstGeom>
          <a:solidFill>
            <a:srgbClr val="FFD7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古代中国（紀元前2100年～紀元前221年）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・夏・商・周の三代</a:t>
            </a:r>
          </a:p>
          <a:p>
            <a:r>
              <a:t>・甲骨文字の誕生</a:t>
            </a:r>
          </a:p>
          <a:p>
            <a:r>
              <a:t>・青銅器文化の発達</a:t>
            </a:r>
          </a:p>
          <a:p>
            <a:r>
              <a:t>・孔子・老子などの思想家が活躍</a:t>
            </a:r>
          </a:p>
          <a:p>
            <a:r>
              <a:t>・春秋戦国時代の百家争鳴</a:t>
            </a:r>
          </a:p>
          <a:p>
            <a:r>
              <a:t>・秦始皇による中国初の統一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371600"/>
            <a:ext cx="91440" cy="3657600"/>
          </a:xfrm>
          <a:prstGeom prst="rect">
            <a:avLst/>
          </a:prstGeom>
          <a:solidFill>
            <a:srgbClr val="B4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1828800"/>
            <a:ext cx="137160" cy="137160"/>
          </a:xfrm>
          <a:prstGeom prst="ellipse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0" y="2743200"/>
            <a:ext cx="137160" cy="137160"/>
          </a:xfrm>
          <a:prstGeom prst="ellipse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0" y="3657600"/>
            <a:ext cx="137160" cy="137160"/>
          </a:xfrm>
          <a:prstGeom prst="ellipse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0" y="4572000"/>
            <a:ext cx="137160" cy="137160"/>
          </a:xfrm>
          <a:prstGeom prst="ellipse">
            <a:avLst/>
          </a:prstGeom>
          <a:solidFill>
            <a:srgbClr val="C8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229600" y="914400"/>
            <a:ext cx="1097280" cy="914400"/>
          </a:xfrm>
          <a:prstGeom prst="hexagon">
            <a:avLst/>
          </a:prstGeom>
          <a:solidFill>
            <a:srgbClr val="8B451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三代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帝国時代（紀元前221年～1912年）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・秦：万里の長城・度量衡の統一</a:t>
            </a:r>
          </a:p>
          <a:p>
            <a:r>
              <a:t>・漢：シルクロード開通・儒教の国教化</a:t>
            </a:r>
          </a:p>
          <a:p>
            <a:r>
              <a:t>・隋・唐：科挙制度・国際的な繁栄</a:t>
            </a:r>
          </a:p>
          <a:p>
            <a:r>
              <a:t>・宋：印刷術・火薬・羅針盤の発明</a:t>
            </a:r>
          </a:p>
          <a:p>
            <a:r>
              <a:t>・元：モンゴル帝国の支配</a:t>
            </a:r>
          </a:p>
          <a:p>
            <a:r>
              <a:t>・明：紫禁城完成・鄭和の航海</a:t>
            </a:r>
          </a:p>
          <a:p>
            <a:r>
              <a:t>・清：康煕・乾隆の盛世から衰退へ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3716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1097280" cy="731520"/>
          </a:xfrm>
          <a:prstGeom prst="roundRect">
            <a:avLst/>
          </a:prstGeom>
          <a:solidFill>
            <a:srgbClr val="C8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29200"/>
            <a:ext cx="1097280" cy="731520"/>
          </a:xfrm>
          <a:prstGeom prst="roundRect">
            <a:avLst/>
          </a:prstGeom>
          <a:solidFill>
            <a:srgbClr val="DC64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1097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029200"/>
            <a:ext cx="1097280" cy="731520"/>
          </a:xfrm>
          <a:prstGeom prst="roundRect">
            <a:avLst/>
          </a:prstGeom>
          <a:solidFill>
            <a:srgbClr val="FFD700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5029200"/>
            <a:ext cx="1097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029200"/>
            <a:ext cx="1097280" cy="731520"/>
          </a:xfrm>
          <a:prstGeom prst="roundRect">
            <a:avLst/>
          </a:prstGeom>
          <a:solidFill>
            <a:srgbClr val="6496C8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029200"/>
            <a:ext cx="1097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5029200"/>
            <a:ext cx="1097280" cy="731520"/>
          </a:xfrm>
          <a:prstGeom prst="roundRect">
            <a:avLst/>
          </a:prstGeom>
          <a:solidFill>
            <a:srgbClr val="96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5029200"/>
            <a:ext cx="1097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029200"/>
            <a:ext cx="1097280" cy="731520"/>
          </a:xfrm>
          <a:prstGeom prst="roundRect">
            <a:avLst/>
          </a:prstGeom>
          <a:solidFill>
            <a:srgbClr val="508250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5029200"/>
            <a:ext cx="1097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0058400" cy="731520"/>
          </a:xfrm>
          <a:prstGeom prst="roundRect">
            <a:avLst/>
          </a:prstGeom>
          <a:solidFill>
            <a:srgbClr val="80808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近代中国（1840年～1949年）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・アヘン戦争（1840年）と不平等条約</a:t>
            </a:r>
          </a:p>
          <a:p>
            <a:r>
              <a:t>・太平天国の乱（1851-1864）</a:t>
            </a:r>
          </a:p>
          <a:p>
            <a:r>
              <a:t>・義和団事件（1900年）</a:t>
            </a:r>
          </a:p>
          <a:p>
            <a:r>
              <a:t>・辛亥革命（1911年）と清朝崩壊</a:t>
            </a:r>
          </a:p>
          <a:p>
            <a:r>
              <a:t>・中華民国成立（1912年）</a:t>
            </a:r>
          </a:p>
          <a:p>
            <a:r>
              <a:t>・日中戦争（1937-1945）</a:t>
            </a:r>
          </a:p>
          <a:p>
            <a:r>
              <a:t>・国共内戦と中華人民共和国成立（1949年）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4572000"/>
            <a:ext cx="914400" cy="914400"/>
          </a:xfrm>
          <a:prstGeom prst="downArrow">
            <a:avLst/>
          </a:prstGeom>
          <a:solidFill>
            <a:srgbClr val="B43232"/>
          </a:solidFill>
          <a:ln>
            <a:solidFill>
              <a:srgbClr val="6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9144000" y="1371600"/>
            <a:ext cx="914400" cy="914400"/>
          </a:xfrm>
          <a:prstGeom prst="diamond">
            <a:avLst/>
          </a:prstGeom>
          <a:solidFill>
            <a:srgbClr val="F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革命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現代中国（1949年～現在）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・毛沢東時代：大躍進運動・文化大革命</a:t>
            </a:r>
          </a:p>
          <a:p>
            <a:r>
              <a:t>・鄧小平時代：改革開放政策</a:t>
            </a:r>
          </a:p>
          <a:p>
            <a:r>
              <a:t>・経済の急成長と世界第2位の経済大国へ</a:t>
            </a:r>
          </a:p>
          <a:p>
            <a:r>
              <a:t>・2001年：WTO加盟</a:t>
            </a:r>
          </a:p>
          <a:p>
            <a:r>
              <a:t>・2008年：北京オリンピック</a:t>
            </a:r>
          </a:p>
          <a:p>
            <a:r>
              <a:t>・「一帯一路」構想の推進</a:t>
            </a:r>
          </a:p>
          <a:p>
            <a:r>
              <a:t>・現代：技術革新と国際的影響力の拡大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772400" y="457200"/>
            <a:ext cx="914400" cy="914400"/>
          </a:xfrm>
          <a:prstGeom prst="star5">
            <a:avLst/>
          </a:prstGeom>
          <a:solidFill>
            <a:srgbClr val="FFD700"/>
          </a:solidFill>
          <a:ln w="254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457200" y="4572000"/>
            <a:ext cx="731520" cy="1097280"/>
          </a:xfrm>
          <a:prstGeom prst="upArrow">
            <a:avLst/>
          </a:prstGeom>
          <a:solidFill>
            <a:srgbClr val="32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gular Pentagon 5"/>
          <p:cNvSpPr/>
          <p:nvPr/>
        </p:nvSpPr>
        <p:spPr>
          <a:xfrm>
            <a:off x="9601200" y="914400"/>
            <a:ext cx="914400" cy="914400"/>
          </a:xfrm>
          <a:prstGeom prst="pentagon">
            <a:avLst/>
          </a:prstGeom>
          <a:solidFill>
            <a:srgbClr val="FFD7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・5000年以上にわたる連続した文明</a:t>
            </a:r>
          </a:p>
          <a:p>
            <a:r>
              <a:t>・多くの発明・技術・思想が世界に影響</a:t>
            </a:r>
          </a:p>
          <a:p>
            <a:r>
              <a:t>・帝国の興亡と現代国家への変革</a:t>
            </a:r>
          </a:p>
          <a:p>
            <a:r>
              <a:t>・現在も世界に大きな影響力を持つ</a:t>
            </a:r>
          </a:p>
          <a:p/>
          <a:p>
            <a:r>
              <a:t>中国の歴史を理解することは、世界を理解する鍵となる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4114800"/>
            <a:ext cx="1828800" cy="1828800"/>
          </a:xfrm>
          <a:prstGeom prst="ellipse">
            <a:avLst/>
          </a:prstGeom>
          <a:solidFill>
            <a:srgbClr val="F0F0F0"/>
          </a:solidFill>
          <a:ln w="5080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114800"/>
            <a:ext cx="1828800" cy="1828800"/>
          </a:xfrm>
          <a:prstGeom prst="ellipse">
            <a:avLst/>
          </a:prstGeom>
          <a:solidFill>
            <a:srgbClr val="FFD700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パックマン</a:t>
            </a:r>
          </a:p>
        </p:txBody>
      </p:sp>
      <p:sp>
        <p:nvSpPr>
          <p:cNvPr id="3" name="Pie 2"/>
          <p:cNvSpPr/>
          <p:nvPr/>
        </p:nvSpPr>
        <p:spPr>
          <a:xfrm>
            <a:off x="1828800" y="1828800"/>
            <a:ext cx="2743200" cy="2743200"/>
          </a:xfrm>
          <a:prstGeom prst="pie">
            <a:avLst/>
          </a:prstGeom>
          <a:solidFill>
            <a:srgbClr val="FFFF00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74720" y="23774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2468880"/>
            <a:ext cx="228600" cy="228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0" y="2971800"/>
            <a:ext cx="365760" cy="365760"/>
          </a:xfrm>
          <a:prstGeom prst="ellipse">
            <a:avLst/>
          </a:prstGeom>
          <a:solidFill>
            <a:srgbClr val="FF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2971800"/>
            <a:ext cx="365760" cy="365760"/>
          </a:xfrm>
          <a:prstGeom prst="ellipse">
            <a:avLst/>
          </a:prstGeom>
          <a:solidFill>
            <a:srgbClr val="FF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2971800"/>
            <a:ext cx="365760" cy="365760"/>
          </a:xfrm>
          <a:prstGeom prst="ellipse">
            <a:avLst/>
          </a:prstGeom>
          <a:solidFill>
            <a:srgbClr val="FFB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1097280" cy="1371600"/>
          </a:xfrm>
          <a:prstGeom prst="roundRect">
            <a:avLst/>
          </a:prstGeom>
          <a:solidFill>
            <a:srgbClr val="FF00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6596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5740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5029200"/>
            <a:ext cx="1097280" cy="1371600"/>
          </a:xfrm>
          <a:prstGeom prst="roundRect">
            <a:avLst/>
          </a:prstGeom>
          <a:solidFill>
            <a:srgbClr val="FFB8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8328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9476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8620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5029200"/>
            <a:ext cx="1097280" cy="1371600"/>
          </a:xfrm>
          <a:prstGeom prst="roundRect">
            <a:avLst/>
          </a:prstGeom>
          <a:solidFill>
            <a:srgbClr val="00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356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352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1500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5029200"/>
            <a:ext cx="1097280" cy="1371600"/>
          </a:xfrm>
          <a:prstGeom prst="roundRect">
            <a:avLst/>
          </a:prstGeom>
          <a:solidFill>
            <a:srgbClr val="FFB85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088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5303520"/>
            <a:ext cx="32004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43800" y="5394960"/>
            <a:ext cx="137160" cy="18288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Python-pptxで作成したパックマン風キャラクター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