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パソコン（コンピュータ）の歴史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パソコン（コンピュータ）の歴史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404040"/>
                </a:solidFill>
              </a:rPr>
              <a:t>主要な技術革新と</a:t>
            </a:r>
          </a:p>
          <a:p>
            <a:pPr algn="l"/>
            <a:r>
              <a:rPr sz="2200" b="0">
                <a:solidFill>
                  <a:srgbClr val="404040"/>
                </a:solidFill>
              </a:rPr>
              <a:t>普及の流れ（要約）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8229600" cy="3108960"/>
          </a:xfrm>
          <a:prstGeom prst="roundRect">
            <a:avLst/>
          </a:prstGeom>
          <a:solidFill>
            <a:srgbClr val="EAF2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真空管 → トランジスタ → IC → マイクロプロセッサ</a:t>
            </a:r>
          </a:p>
          <a:p>
            <a:pPr algn="ctr"/>
            <a:r>
              <a:rPr sz="1400" b="0"/>
              <a:t>→ GUI/ネット → クラウド/AI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404040"/>
                </a:solidFill>
              </a:rPr>
              <a:t>（年代の目安：1940s〜現在）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起源（計算機のはじまり）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起源（計算機のはじまり）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・計算を道具化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例：そろばん、計算尺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・17世紀：機械式計算機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歯車で加算・減算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・目的：高速化と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ミスの削減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8229600" cy="411480"/>
          </a:xfrm>
          <a:prstGeom prst="rect">
            <a:avLst/>
          </a:prstGeom>
          <a:solidFill>
            <a:srgbClr val="FFF7E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キーワード：計算の自動化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第1世代（真空管：1940s〜）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第1世代（真空管：1940s〜）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・代表：ENIAC（1945）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・巨大で高消費電力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故障が多く保守が必要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・用途：軍事・研究中心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・電子計算機が確立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8229600" cy="4114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特徴：巨大・高価・用途は限定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第2世代（トランジスタ：1950s〜）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第2世代（トランジスタ：1950s〜）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・真空管→トランジスタ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・小型化・省電力化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信頼性が大幅に向上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・商用利用が拡大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・言語が発展（COBOL等）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8229600" cy="411480"/>
          </a:xfrm>
          <a:prstGeom prst="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効果：小型化と信頼性の向上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第3世代（IC：1960s〜）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第3世代（IC：1960s〜）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・集積回路（IC）で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性能と量産性が向上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・OSが普及し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使い方が標準化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・ミニコン登場で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利用が広がる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8229600" cy="411480"/>
          </a:xfrm>
          <a:prstGeom prst="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効果：性能向上＋標準化（OS）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第4世代（マイクロプロセッサ：1970s〜）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第4世代（マイクロプロセッサ：1970s〜）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・CPUを1チップに集約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マイクロプロセッサ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・代表：Intel 4004（1971）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・小型・低価格が進む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・個人向けPCの土台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8229600" cy="411480"/>
          </a:xfrm>
          <a:prstGeom prst="rect">
            <a:avLst/>
          </a:prstGeom>
          <a:solidFill>
            <a:srgbClr val="FDF2F8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転換点：個人が使える計算機へ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パソコン普及（1980s〜1990s）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パソコン普及（1980s〜1990s）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・1981：IBM PC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互換機が増え標準化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・1984：Macintosh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GUIが一般化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・Windows普及で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家庭・職場へ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・1990s：ネット普及で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使い方が一変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8229600" cy="411480"/>
          </a:xfrm>
          <a:prstGeom prst="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ポイント：標準化・GUI・ネット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現代〜これから（2000s〜）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現代〜これから（2000s〜）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・ノートPCは高性能化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省電力化が進む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・スマホ普及で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個人端末が多様化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・クラウドで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保存・計算が分散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・AIで作業支援が加速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文章・画像・開発など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8229600" cy="411480"/>
          </a:xfrm>
          <a:prstGeom prst="rect">
            <a:avLst/>
          </a:prstGeom>
          <a:solidFill>
            <a:srgbClr val="FAFAFA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0"/>
              <a:t>方向性：クラウド×AIで支援が高度化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