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コンピューターの基礎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仕組みから活用まで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コンピューターとは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・情報を処理する電子機器</a:t>
            </a:r>
          </a:p>
          <a:p>
            <a:r>
              <a:t>・データの入力・処理・出力を自動で行う</a:t>
            </a:r>
          </a:p>
          <a:p>
            <a:r>
              <a:t>・現代社会のあらゆる場面で活用されている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コンピューターの5大機能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コンピューターの基本機能を5つに分類できます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2560320" cy="1828800"/>
          </a:xfrm>
          <a:prstGeom prst="rect">
            <a:avLst/>
          </a:prstGeom>
          <a:solidFill>
            <a:srgbClr val="4472C4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入力機能</a:t>
            </a:r>
          </a:p>
          <a:p>
            <a:pPr algn="ctr"/>
            <a:r>
              <a:rPr sz="1400" b="0"/>
              <a:t>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828800"/>
            <a:ext cx="2560320" cy="1828800"/>
          </a:xfrm>
          <a:prstGeom prst="rect">
            <a:avLst/>
          </a:prstGeom>
          <a:solidFill>
            <a:srgbClr val="70AD47"/>
          </a:solidFill>
          <a:ln>
            <a:solidFill>
              <a:srgbClr val="507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出力機能</a:t>
            </a:r>
          </a:p>
          <a:p>
            <a:pPr algn="ctr"/>
            <a:r>
              <a:rPr sz="1400" b="0"/>
              <a:t>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2560320" cy="1828800"/>
          </a:xfrm>
          <a:prstGeom prst="rect">
            <a:avLst/>
          </a:prstGeom>
          <a:solidFill>
            <a:srgbClr val="FFC000"/>
          </a:solidFill>
          <a:ln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記憶機能</a:t>
            </a:r>
          </a:p>
          <a:p>
            <a:pPr algn="ctr"/>
            <a:r>
              <a:rPr sz="1400" b="0"/>
              <a:t>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4114800"/>
            <a:ext cx="2743200" cy="1828800"/>
          </a:xfrm>
          <a:prstGeom prst="rect">
            <a:avLst/>
          </a:prstGeom>
          <a:solidFill>
            <a:srgbClr val="C5504B"/>
          </a:solidFill>
          <a:ln>
            <a:solidFill>
              <a:srgbClr val="94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演算機能</a:t>
            </a:r>
          </a:p>
          <a:p>
            <a:pPr algn="ctr"/>
            <a:r>
              <a:rPr sz="1400" b="0"/>
              <a:t>Calculation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4114800"/>
            <a:ext cx="2743200" cy="1828800"/>
          </a:xfrm>
          <a:prstGeom prst="rect">
            <a:avLst/>
          </a:prstGeom>
          <a:solidFill>
            <a:srgbClr val="7030A0"/>
          </a:solidFill>
          <a:ln>
            <a:solidFill>
              <a:srgbClr val="52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制御機能</a:t>
            </a:r>
          </a:p>
          <a:p>
            <a:pPr algn="ctr"/>
            <a:r>
              <a:rPr sz="1400" b="0"/>
              <a:t>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ハードウェアとソフトウェア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コンピューターを構成する2つの要素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45920"/>
          <a:ext cx="8412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10287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ハードウェア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ソフトウェア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物理的な機器・部品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プログラム・データ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具体例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CPU、メモリ、HDD</a:t>
                      </a:r>
                    </a:p>
                    <a:p>
                      <a:r>
                        <a:t>キーボード、マウス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OS、アプリケーション</a:t>
                      </a:r>
                    </a:p>
                    <a:p>
                      <a:r>
                        <a:t>ゲーム、Webブラウザ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役割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コンピューターの</a:t>
                      </a:r>
                    </a:p>
                    <a:p>
                      <a:r>
                        <a:t>体（物理的基盤）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コンピューターの</a:t>
                      </a:r>
                    </a:p>
                    <a:p>
                      <a:r>
                        <a:t>脳（指示を出す）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コンピューターの種類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用途や規模によって様々な種類があります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45920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914400">
                <a:tc>
                  <a:txBody>
                    <a:bodyPr/>
                    <a:lstStyle/>
                    <a:p>
                      <a:r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特徴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主な用途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スーパー</a:t>
                      </a:r>
                    </a:p>
                    <a:p>
                      <a:r>
                        <a:t>コンピューター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世界最速の</a:t>
                      </a:r>
                    </a:p>
                    <a:p>
                      <a:r>
                        <a:t>計算能力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気象予測、科学計算</a:t>
                      </a:r>
                    </a:p>
                    <a:p>
                      <a:r>
                        <a:t>宇宙開発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サーバー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常時稼働・</a:t>
                      </a:r>
                    </a:p>
                    <a:p>
                      <a:r>
                        <a:t>複数ユーザー対応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Webサイト、メール</a:t>
                      </a:r>
                    </a:p>
                    <a:p>
                      <a:r>
                        <a:t>データ管理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パソコン</a:t>
                      </a:r>
                    </a:p>
                    <a:p>
                      <a:r>
                        <a:t>（PC）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個人向け</a:t>
                      </a:r>
                    </a:p>
                    <a:p>
                      <a:r>
                        <a:t>汎用的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仕事、学習</a:t>
                      </a:r>
                    </a:p>
                    <a:p>
                      <a:r>
                        <a:t>ゲーム、創作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スマホ・</a:t>
                      </a:r>
                    </a:p>
                    <a:p>
                      <a:r>
                        <a:t>タブレット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持ち運び可能</a:t>
                      </a:r>
                    </a:p>
                    <a:p>
                      <a:r>
                        <a:t>タッチ操作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通信、SNS</a:t>
                      </a:r>
                    </a:p>
                    <a:p>
                      <a:r>
                        <a:t>カメラ、決済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・コンピューターは情報処理の核心となる技術</a:t>
            </a:r>
          </a:p>
          <a:p>
            <a:r>
              <a:t>・ハードウェアとソフトウェアの協調で動作</a:t>
            </a:r>
          </a:p>
          <a:p>
            <a:r>
              <a:t>・基本を理解し、効果的に活用していこう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