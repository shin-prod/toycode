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クラスタリング技術入門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Unsupervised Learning &amp; Data Mining</a:t>
            </a:r>
          </a:p>
          <a:p/>
          <a:p>
            <a:r>
              <a:t>機械学習における教師なし学習の基盤技術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クラスタリングとは？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【定義】</a:t>
            </a:r>
          </a:p>
          <a:p>
            <a:r>
              <a:t>データを類似性に基づいてグループ（クラスタ）に分類する教師なし学習手法</a:t>
            </a:r>
          </a:p>
          <a:p/>
          <a:p>
            <a:r>
              <a:t>【特徴】</a:t>
            </a:r>
          </a:p>
          <a:p>
            <a:r>
              <a:t>• ラベル不要：教師データが不要</a:t>
            </a:r>
          </a:p>
          <a:p>
            <a:r>
              <a:t>• パターン発見：隠れた構造を抽出</a:t>
            </a:r>
          </a:p>
          <a:p>
            <a:r>
              <a:t>• 前処理：次元削減・特徴抽出の前段階</a:t>
            </a:r>
          </a:p>
          <a:p/>
          <a:p>
            <a:r>
              <a:t>【主な用途】</a:t>
            </a:r>
          </a:p>
          <a:p>
            <a:r>
              <a:t>顧客セグメンテーション、画像分割、異常検知、ドキュメント分類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アルゴリズム分類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t>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代表アルゴリズム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特徴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適用ケース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分割型 (Partitional)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K-means, K-medoids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事前にKを指定、球状クラスタ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大規模データ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階層型 (Hierarchical)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Ward, Complete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デンドログラム出力、樹形構造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系統分類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密度型 (Density)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DBSCAN, OPTICS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ノイズ除去、任意形状対応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外れ値多いデータ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モデル型 (Model-based)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GMM, スペクトラル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確率的・確率的クラスタリング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重なり合うクラスタ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アルゴリズム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【アルゴリズム手順】</a:t>
            </a:r>
          </a:p>
          <a:p/>
          <a:p>
            <a:r>
              <a:t>1. 初期化：K個の中心点μ₁, μ₂, ..., μₖをランダムに選択</a:t>
            </a:r>
          </a:p>
          <a:p/>
          <a:p>
            <a:r>
              <a:t>2. 割り当て（Eステップ）：</a:t>
            </a:r>
          </a:p>
          <a:p>
            <a:r>
              <a:t>   rₙₖ = 1 if k = argminⱼ ||xₙ - μⱼ||² else 0</a:t>
            </a:r>
          </a:p>
          <a:p/>
          <a:p>
            <a:r>
              <a:t>3. 更新（Mステップ）：</a:t>
            </a:r>
          </a:p>
          <a:p>
            <a:r>
              <a:t>   μₖ = (Σₙ rₙₖxₙ) / (Σₙ rₙₖ)</a:t>
            </a:r>
          </a:p>
          <a:p/>
          <a:p>
            <a:r>
              <a:t>4. 収束まで2-3を繰り返し</a:t>
            </a:r>
          </a:p>
          <a:p/>
          <a:p>
            <a:r>
              <a:t>【時間計算量】O(n × K × d × iterations)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図解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1828800" y="1371600"/>
            <a:ext cx="274320" cy="2743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1645920"/>
            <a:ext cx="274320" cy="2743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011680"/>
            <a:ext cx="274320" cy="2743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2286000"/>
            <a:ext cx="274320" cy="2743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0" y="1371600"/>
            <a:ext cx="274320" cy="27432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0" y="1645920"/>
            <a:ext cx="274320" cy="27432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011680"/>
            <a:ext cx="274320" cy="27432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6320" y="2286000"/>
            <a:ext cx="274320" cy="27432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03120" y="1737360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1737360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1: ランダム初期化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2: 最近傍割り当て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3: 重心更新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4: 収束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階層的クラスタリング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【手法】</a:t>
            </a:r>
          </a:p>
          <a:p>
            <a:r>
              <a:t>• 凝集型（ボトムアップ）：各点を個別のクラスタ→最も近いペアを統合</a:t>
            </a:r>
          </a:p>
          <a:p>
            <a:r>
              <a:t>• 分割型（トップダウン）：全データを1クラスタ→分割を繰り返し</a:t>
            </a:r>
          </a:p>
          <a:p/>
          <a:p>
            <a:r>
              <a:t>【リンク法】</a:t>
            </a:r>
          </a:p>
          <a:p>
            <a:r>
              <a:t>Single Linkage:    d(A,B) = min{d(a,b) | a∈A, b∈B}</a:t>
            </a:r>
          </a:p>
          <a:p>
            <a:r>
              <a:t>Complete Linkage:  d(A,B) = max{d(a,b) | a∈A, b∈B}</a:t>
            </a:r>
          </a:p>
          <a:p>
            <a:r>
              <a:t>Average Linkage:   d(A,B) = avg{d(a,b) | a∈A, b∈B}</a:t>
            </a:r>
          </a:p>
          <a:p>
            <a:r>
              <a:t>Ward's Method:     クラスタ内分散増分を最小化</a:t>
            </a:r>
          </a:p>
          <a:p/>
          <a:p>
            <a:r>
              <a:t>【計算量】O(n²) ~ O(n³)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階層クラスタリング - デンドログラム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40480"/>
            <a:ext cx="960120" cy="457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840480"/>
            <a:ext cx="960120" cy="457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840480"/>
            <a:ext cx="960120" cy="457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840480"/>
            <a:ext cx="960120" cy="457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291840"/>
            <a:ext cx="45720" cy="59436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3291840"/>
            <a:ext cx="45720" cy="59436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3291840"/>
            <a:ext cx="45720" cy="59436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3291840"/>
            <a:ext cx="45720" cy="59436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3291840"/>
            <a:ext cx="1874519" cy="457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3291840"/>
            <a:ext cx="1874519" cy="457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0" y="2743200"/>
            <a:ext cx="45720" cy="59436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0" y="2743200"/>
            <a:ext cx="45720" cy="59436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0" y="2743200"/>
            <a:ext cx="3703320" cy="457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0" y="2011680"/>
            <a:ext cx="45720" cy="77724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0000"/>
                </a:solidFill>
              </a:rPr>
              <a:t>カット位置でクラスタ数を決定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- 密度ベースクラスタリング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【基本概念】</a:t>
            </a:r>
          </a:p>
          <a:p>
            <a:r>
              <a:t>ε (epsilon) : 近傍の半径閾値</a:t>
            </a:r>
          </a:p>
          <a:p>
            <a:r>
              <a:t>MinPts      : コア点と判定する最小近傍点数</a:t>
            </a:r>
          </a:p>
          <a:p/>
          <a:p>
            <a:r>
              <a:t>【点の分類】</a:t>
            </a:r>
          </a:p>
          <a:p>
            <a:r>
              <a:t>• コア点: ε-近傍内にMinPts以上の点を持つ</a:t>
            </a:r>
          </a:p>
          <a:p>
            <a:r>
              <a:t>• 境界点: コア点の近傍にあるが、自身はコア点でない</a:t>
            </a:r>
          </a:p>
          <a:p>
            <a:r>
              <a:t>• ノイズ: どのクラスタにも属さない</a:t>
            </a:r>
          </a:p>
          <a:p/>
          <a:p>
            <a:r>
              <a:t>【アルゴリズム】</a:t>
            </a:r>
          </a:p>
          <a:p>
            <a:r>
              <a:t>1. 未訪問のコア点を探す</a:t>
            </a:r>
          </a:p>
          <a:p>
            <a:r>
              <a:t>2. 密度到達可能な点を同じクラスタに割り当て</a:t>
            </a:r>
          </a:p>
          <a:p>
            <a:r>
              <a:t>3. 境界点を処理</a:t>
            </a:r>
          </a:p>
          <a:p>
            <a:r>
              <a:t>4. ノイズをマーク</a:t>
            </a:r>
          </a:p>
          <a:p/>
          <a:p>
            <a:r>
              <a:t>【計算量】O(n log n) ~ O(n²)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図解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1828800" y="1828800"/>
            <a:ext cx="365760" cy="36576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2286000"/>
            <a:ext cx="365760" cy="36576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286000"/>
            <a:ext cx="365760" cy="36576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743200"/>
            <a:ext cx="365760" cy="36576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164592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18288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2286000"/>
            <a:ext cx="365760" cy="36576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0" y="1828800"/>
            <a:ext cx="365760" cy="36576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0" y="2286000"/>
            <a:ext cx="365760" cy="36576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2743200"/>
            <a:ext cx="365760" cy="36576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0" y="210312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0" y="1645920"/>
            <a:ext cx="182880" cy="182880"/>
          </a:xfrm>
          <a:prstGeom prst="ellipse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00400" y="3657600"/>
            <a:ext cx="182880" cy="182880"/>
          </a:xfrm>
          <a:prstGeom prst="ellipse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3200400"/>
            <a:ext cx="182880" cy="182880"/>
          </a:xfrm>
          <a:prstGeom prst="ellipse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114800"/>
            <a:ext cx="182880" cy="182880"/>
          </a:xfrm>
          <a:prstGeom prst="ellipse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14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● コア点</a:t>
            </a:r>
          </a:p>
        </p:txBody>
      </p:sp>
      <p:sp>
        <p:nvSpPr>
          <p:cNvPr id="20" name="Oval 19"/>
          <p:cNvSpPr/>
          <p:nvPr/>
        </p:nvSpPr>
        <p:spPr>
          <a:xfrm>
            <a:off x="2011680" y="914400"/>
            <a:ext cx="182880" cy="18288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● 境界点</a:t>
            </a:r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182880" cy="18288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● ノイズ</a:t>
            </a:r>
          </a:p>
        </p:txBody>
      </p:sp>
      <p:sp>
        <p:nvSpPr>
          <p:cNvPr id="24" name="Oval 23"/>
          <p:cNvSpPr/>
          <p:nvPr/>
        </p:nvSpPr>
        <p:spPr>
          <a:xfrm>
            <a:off x="2011680" y="1828800"/>
            <a:ext cx="137160" cy="137160"/>
          </a:xfrm>
          <a:prstGeom prst="ellipse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GMM - 混合ガウス分布モデル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【確率モデル】</a:t>
            </a:r>
          </a:p>
          <a:p>
            <a:r>
              <a:t>p(x) = Σₖ πₖ N(x | μₖ, Σₖ)</a:t>
            </a:r>
          </a:p>
          <a:p/>
          <a:p>
            <a:r>
              <a:t>πₖ  : 混合係数 (Σπₖ = 1)</a:t>
            </a:r>
          </a:p>
          <a:p>
            <a:r>
              <a:t>μₖ  : 平均ベクトル</a:t>
            </a:r>
          </a:p>
          <a:p>
            <a:r>
              <a:t>Σₖ : 共分散行列</a:t>
            </a:r>
          </a:p>
          <a:p>
            <a:r>
              <a:t>N   : ガウス分布</a:t>
            </a:r>
          </a:p>
          <a:p/>
          <a:p>
            <a:r>
              <a:t>【EMアルゴリズム】</a:t>
            </a:r>
          </a:p>
          <a:p>
            <a:r>
              <a:t>E-step: γ(zₙₖ) = πₖN(xₙ|μₖ,Σₖ) / ΣⱼπⱼN(xₙ|μⱼ,Σⱼ)</a:t>
            </a:r>
          </a:p>
          <a:p>
            <a:r>
              <a:t>M-step: μₖ = Σₙ γ(zₙₖ)xₙ / Σₙ γ(zₙₖ)</a:t>
            </a:r>
          </a:p>
          <a:p/>
          <a:p>
            <a:r>
              <a:t>【特徴】</a:t>
            </a:r>
          </a:p>
          <a:p>
            <a:r>
              <a:t>• ソフトクラスタリング（確率的所属）</a:t>
            </a:r>
          </a:p>
          <a:p>
            <a:r>
              <a:t>• 楕円形クラスタに対応</a:t>
            </a:r>
          </a:p>
          <a:p>
            <a:r>
              <a:t>• 負対数尤度最大化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距離・類似度指標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22514"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適用データ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ユークリッド距離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√Σ(xᵢ - yᵢ)²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連続値、物理的距離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マンハッタン距離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Σ|xᵢ - yᵢ|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グリッド構造、ロバスト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コサイン類似度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(x·y) / (||x|| ||y||)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文書・高次元スパース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マハラノビス距離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√((x-y)ᵀΣ⁻¹(x-y))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相関考慮、異常検知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Jaccard係数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|A∩B| / |A∪B|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集合データ、二値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相関係数距離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1 - ρ(x,y)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パターン類似性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評価指標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【内部評価（正解ラベル不要）】</a:t>
            </a:r>
          </a:p>
          <a:p/>
          <a:p>
            <a:r>
              <a:t>シルエット係数:</a:t>
            </a:r>
          </a:p>
          <a:p>
            <a:r>
              <a:t>s = (b - a) / max(a, b)</a:t>
            </a:r>
          </a:p>
          <a:p>
            <a:r>
              <a:t>a: 同じクラスタ内の平均距離</a:t>
            </a:r>
          </a:p>
          <a:p>
            <a:r>
              <a:t>b: 最も近い他クラスタとの平均距離</a:t>
            </a:r>
          </a:p>
          <a:p>
            <a:r>
              <a:t>[-1, 1] で1に近いほど良い</a:t>
            </a:r>
          </a:p>
          <a:p/>
          <a:p>
            <a:r>
              <a:t>Davies-Bouldin Index:</a:t>
            </a:r>
          </a:p>
          <a:p>
            <a:r>
              <a:t>DB = (1/k) Σ max[(sᵢ + sⱼ) / d(cᵢ, cⱼ)]</a:t>
            </a:r>
          </a:p>
          <a:p>
            <a:r>
              <a:t>小さいほど良い</a:t>
            </a:r>
          </a:p>
          <a:p/>
          <a:p>
            <a:r>
              <a:t>【外部評価（正解ラベルあり）】</a:t>
            </a:r>
          </a:p>
          <a:p>
            <a:r>
              <a:t>Adjusted Rand Index (ARI): [-1, 1]</a:t>
            </a:r>
          </a:p>
          <a:p>
            <a:r>
              <a:t>Normalized Mutual Information (NMI): [0, 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実装・ライブラリ比較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r>
                        <a:t>ライブラリ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特徴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スケーラビリティ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k-means++初期化対応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n_samples &lt; 10⁶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AgglomerativeClustering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階層型、リンケージ選択可能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n_samples &lt; 10⁴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eps, min_samples調整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n_samples &lt; 10⁵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GaussianMixture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AIC/BICモデル選択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n_samples &lt; 10⁶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SpectralClustering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グラフラプラシアン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n_samples &lt; 10⁴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sklearn-extra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KMedoids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PAMアルゴリズム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n_samples &lt; 10⁵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アルゴリズム選択フロー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Diamond 3"/>
          <p:cNvSpPr/>
          <p:nvPr/>
        </p:nvSpPr>
        <p:spPr>
          <a:xfrm>
            <a:off x="3657600" y="457200"/>
            <a:ext cx="2286000" cy="731520"/>
          </a:xfrm>
          <a:prstGeom prst="diamond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データサイズ？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371600" cy="54864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小規模</a:t>
            </a:r>
          </a:p>
          <a:p>
            <a:r>
              <a:t>(n&lt;10⁴)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1371600" cy="5486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大規模</a:t>
            </a:r>
          </a:p>
          <a:p>
            <a:r>
              <a:t>(n≥10⁴)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371600" cy="54864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階層型</a:t>
            </a:r>
          </a:p>
          <a:p>
            <a:r>
              <a:t>Ward法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743200"/>
            <a:ext cx="1371600" cy="54864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スペクトラル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743200"/>
            <a:ext cx="1371600" cy="54864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K-means</a:t>
            </a:r>
          </a:p>
          <a:p>
            <a:r>
              <a:t>MiniBatch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0" y="3840480"/>
            <a:ext cx="2286000" cy="731520"/>
          </a:xfrm>
          <a:prstGeom prst="diamond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クラスタ形状？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645920" cy="54864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球状・凸状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846320"/>
            <a:ext cx="1645920" cy="54864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任意形状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846320"/>
            <a:ext cx="1645920" cy="54864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ノイズあり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0720"/>
            <a:ext cx="1645920" cy="54864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K-means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5760720"/>
            <a:ext cx="1645920" cy="54864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DBSCAN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760720"/>
            <a:ext cx="1645920" cy="54864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DBSCAN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【クラスタリング選択のポイント】</a:t>
            </a:r>
          </a:p>
          <a:p/>
          <a:p>
            <a:r>
              <a:t>1. データ特性を理解する</a:t>
            </a:r>
          </a:p>
          <a:p>
            <a:r>
              <a:t>   • データサイズ → 計算量のトレードオフ</a:t>
            </a:r>
          </a:p>
          <a:p>
            <a:r>
              <a:t>   • クラスタ形状 → 距離指標とアルゴリズム選定</a:t>
            </a:r>
          </a:p>
          <a:p>
            <a:r>
              <a:t>   • ノイズの有無 → ロバスト性の必要性</a:t>
            </a:r>
          </a:p>
          <a:p/>
          <a:p>
            <a:r>
              <a:t>2. 前処理の重要性</a:t>
            </a:r>
          </a:p>
          <a:p>
            <a:r>
              <a:t>   • 特徴量正規化・標準化</a:t>
            </a:r>
          </a:p>
          <a:p>
            <a:r>
              <a:t>   • 次元削減（PCA/t-SNE）</a:t>
            </a:r>
          </a:p>
          <a:p>
            <a:r>
              <a:t>   • 外れ値処理</a:t>
            </a:r>
          </a:p>
          <a:p/>
          <a:p>
            <a:r>
              <a:t>3. 評価と検証</a:t>
            </a:r>
          </a:p>
          <a:p>
            <a:r>
              <a:t>   • 複数の内部指標で確認</a:t>
            </a:r>
          </a:p>
          <a:p>
            <a:r>
              <a:t>   • 領域知識との整合性</a:t>
            </a:r>
          </a:p>
          <a:p>
            <a:r>
              <a:t>   • 可視化による直感的検証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参考文献・リソース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【教科書】</a:t>
            </a:r>
          </a:p>
          <a:p>
            <a:r>
              <a:t>• Bishop, "Pattern Recognition and Machine Learning" (2006)</a:t>
            </a:r>
          </a:p>
          <a:p>
            <a:r>
              <a:t>• Hastie et al., "The Elements of Statistical Learning" (2009)</a:t>
            </a:r>
          </a:p>
          <a:p>
            <a:r>
              <a:t>• Murphy, "Machine Learning: A Probabilistic Perspective" (2012)</a:t>
            </a:r>
          </a:p>
          <a:p/>
          <a:p>
            <a:r>
              <a:t>【論文】</a:t>
            </a:r>
          </a:p>
          <a:p>
            <a:r>
              <a:t>• Lloyd (1982) - K-meansアルゴリズム</a:t>
            </a:r>
          </a:p>
          <a:p>
            <a:r>
              <a:t>• Ester et al. (1996) - DBSCAN</a:t>
            </a:r>
          </a:p>
          <a:p>
            <a:r>
              <a:t>• Dempster et al. (1977) - EMアルゴリズム</a:t>
            </a:r>
          </a:p>
          <a:p/>
          <a:p>
            <a:r>
              <a:t>【実装リソース】</a:t>
            </a:r>
          </a:p>
          <a:p>
            <a:r>
              <a:t>• scikit-learn: https://scikit-learn.org/</a:t>
            </a:r>
          </a:p>
          <a:p>
            <a:r>
              <a:t>• sklearn-extra: https://scikit-learn-extra.readthedocs.io/</a:t>
            </a:r>
          </a:p>
          <a:p>
            <a:r>
              <a:t>• ELKI (大規模向け): https://elki-project.github.io/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