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ゲーム理論入門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意思決定と戦略の科学</a:t>
            </a:r>
          </a:p>
          <a:p/>
          <a:p>
            <a:r>
              <a:t>経済学・数学・生物学・政治学など多様な分野で応用される</a:t>
            </a:r>
          </a:p>
          <a:p>
            <a:r>
              <a:t>戦略的思考の枠組み</a:t>
            </a:r>
          </a:p>
        </p:txBody>
      </p:sp>
      <p:sp>
        <p:nvSpPr>
          <p:cNvPr id="4" name="Can 3"/>
          <p:cNvSpPr/>
          <p:nvPr/>
        </p:nvSpPr>
        <p:spPr>
          <a:xfrm>
            <a:off x="8229600" y="4572000"/>
            <a:ext cx="1828800" cy="731520"/>
          </a:xfrm>
          <a:prstGeom prst="can">
            <a:avLst/>
          </a:prstGeom>
          <a:solidFill>
            <a:srgbClr val="4169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ゲーム理論とは？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・複数のプレイヤーが相互に影響を与え合う状況を分析する学問</a:t>
            </a:r>
          </a:p>
          <a:p>
            <a:r>
              <a:t>・数学的モデルを用いて最適な戦略を導出</a:t>
            </a:r>
          </a:p>
          <a:p/>
          <a:p>
            <a:r>
              <a:t>【主な応用分野】</a:t>
            </a:r>
          </a:p>
          <a:p>
            <a:r>
              <a:t>・経済学：競争戦略・オークション・取引</a:t>
            </a:r>
          </a:p>
          <a:p>
            <a:r>
              <a:t>・政治学：国際関係・選挙戦略</a:t>
            </a:r>
          </a:p>
          <a:p>
            <a:r>
              <a:t>・生物学：進化生態学・動物行動学</a:t>
            </a:r>
          </a:p>
          <a:p>
            <a:r>
              <a:t>・コンピュータ科学：AI・ネットワーク設計</a:t>
            </a:r>
          </a:p>
        </p:txBody>
      </p:sp>
      <p:sp>
        <p:nvSpPr>
          <p:cNvPr id="4" name="Diamond 3"/>
          <p:cNvSpPr/>
          <p:nvPr/>
        </p:nvSpPr>
        <p:spPr>
          <a:xfrm>
            <a:off x="8686800" y="914400"/>
            <a:ext cx="1097280" cy="1097280"/>
          </a:xfrm>
          <a:prstGeom prst="diamond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戦略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囚人のジレンマ（Prisoner's Dilemma）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最も有名なゲーム理論の例</a:t>
            </a:r>
          </a:p>
          <a:p/>
          <a:p>
            <a:r>
              <a:t>【状況】</a:t>
            </a:r>
          </a:p>
          <a:p>
            <a:r>
              <a:t>2人の囚人が別々に尋問される</a:t>
            </a:r>
          </a:p>
          <a:p/>
          <a:p>
            <a:r>
              <a:t>【選択肢】</a:t>
            </a:r>
          </a:p>
          <a:p>
            <a:r>
              <a:t>・黙秘する（協力）</a:t>
            </a:r>
          </a:p>
          <a:p>
            <a:r>
              <a:t>・自白する（裏切り）</a:t>
            </a:r>
          </a:p>
          <a:p/>
          <a:p>
            <a:r>
              <a:t>【結果】</a:t>
            </a:r>
          </a:p>
          <a:p>
            <a:r>
              <a:t>・両方が黙秘 → 各1年刑</a:t>
            </a:r>
          </a:p>
          <a:p>
            <a:r>
              <a:t>・両方が自白 → 各5年刑</a:t>
            </a:r>
          </a:p>
          <a:p>
            <a:r>
              <a:t>・一方だけ自白 → 自白者0年、黙秘者10年</a:t>
            </a:r>
          </a:p>
          <a:p/>
          <a:p>
            <a:r>
              <a:t>【結論】</a:t>
            </a:r>
          </a:p>
          <a:p>
            <a:r>
              <a:t>個人の合理的選択が集団最適解を生まない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2743200"/>
          <a:ext cx="411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囚人B: 黙秘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囚人B: 自白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囚人A: 黙秘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1年, 1年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10年, 0年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囚人A: 自白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0年, 10年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5年, 5年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ナッシュ均衡（Nash Equilibrium）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ジョン・ナッシュ（1928-2015）が提唱</a:t>
            </a:r>
          </a:p>
          <a:p>
            <a:r>
              <a:t>1994年ノーベル経済学賞受賞</a:t>
            </a:r>
          </a:p>
          <a:p/>
          <a:p>
            <a:r>
              <a:t>【定義】</a:t>
            </a:r>
          </a:p>
          <a:p>
            <a:r>
              <a:t>「すべてのプレイヤーが、他者の戦略を</a:t>
            </a:r>
          </a:p>
          <a:p>
            <a:r>
              <a:t>固定したとき、自分の戦略を変更する</a:t>
            </a:r>
          </a:p>
          <a:p>
            <a:r>
              <a:t>動機がなくなる状態」</a:t>
            </a:r>
          </a:p>
          <a:p/>
          <a:p>
            <a:r>
              <a:t>【ポイント】</a:t>
            </a:r>
          </a:p>
          <a:p>
            <a:r>
              <a:t>・誰も戦略を変えたくない安定状態</a:t>
            </a:r>
          </a:p>
          <a:p>
            <a:r>
              <a:t>・囚人のジレンマでは「両方自白」がナッシュ均衡</a:t>
            </a:r>
          </a:p>
          <a:p>
            <a:r>
              <a:t>・必ずしも最適な結果ではない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8686800" y="914400"/>
            <a:ext cx="1097280" cy="1097280"/>
          </a:xfrm>
          <a:prstGeom prst="pentagon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均衡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支配戦略と最適反応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【支配戦略（Dominant Strategy）】</a:t>
            </a:r>
          </a:p>
          <a:p>
            <a:r>
              <a:t>相手の選択に関わらず、常に最適な戦略</a:t>
            </a:r>
          </a:p>
          <a:p/>
          <a:p>
            <a:r>
              <a:t>例：価格競争で常に安値をつける戦略</a:t>
            </a:r>
          </a:p>
          <a:p/>
          <a:p>
            <a:r>
              <a:t>【最適反応（Best Response）】</a:t>
            </a:r>
          </a:p>
          <a:p>
            <a:r>
              <a:t>相手の戦略が与えられたとき、</a:t>
            </a:r>
          </a:p>
          <a:p>
            <a:r>
              <a:t>自分にとって最適な戦略</a:t>
            </a:r>
          </a:p>
          <a:p/>
          <a:p>
            <a:r>
              <a:t>【関係性】</a:t>
            </a:r>
          </a:p>
          <a:p>
            <a:r>
              <a:t>支配戦略が存在 → それが最適反応</a:t>
            </a:r>
          </a:p>
          <a:p>
            <a:r>
              <a:t>支配戦略が存在しない場合も</a:t>
            </a:r>
          </a:p>
          <a:p>
            <a:r>
              <a:t>ナッシュ均衡は存在しうる</a:t>
            </a:r>
          </a:p>
        </p:txBody>
      </p:sp>
      <p:sp>
        <p:nvSpPr>
          <p:cNvPr id="4" name="Hexagon 3"/>
          <p:cNvSpPr/>
          <p:nvPr/>
        </p:nvSpPr>
        <p:spPr>
          <a:xfrm>
            <a:off x="9144000" y="4114800"/>
            <a:ext cx="1371600" cy="1188720"/>
          </a:xfrm>
          <a:prstGeom prst="hexagon">
            <a:avLst/>
          </a:prstGeom>
          <a:solidFill>
            <a:srgbClr val="32C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最適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協力ゲーム vs 非協力ゲーム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【非協力ゲーム（Non-cooperative）】</a:t>
            </a:r>
          </a:p>
          <a:p>
            <a:r>
              <a:t>・プレイヤーは独立して行動</a:t>
            </a:r>
          </a:p>
          <a:p>
            <a:r>
              <a:t>・拘束力のある合意はできない</a:t>
            </a:r>
          </a:p>
          <a:p>
            <a:r>
              <a:t>・例：価格競争、競売</a:t>
            </a:r>
          </a:p>
          <a:p/>
          <a:p>
            <a:r>
              <a:t>【協力ゲーム（Cooperative）】</a:t>
            </a:r>
          </a:p>
          <a:p>
            <a:r>
              <a:t>・プレイヤー間で連携可能</a:t>
            </a:r>
          </a:p>
          <a:p>
            <a:r>
              <a:t>・拘束力のある契約・合意ができる</a:t>
            </a:r>
          </a:p>
          <a:p>
            <a:r>
              <a:t>・例：カルテル、共同開発</a:t>
            </a:r>
          </a:p>
          <a:p/>
          <a:p>
            <a:r>
              <a:t>【比較】</a:t>
            </a:r>
          </a:p>
          <a:p>
            <a:r>
              <a:t>現実の多くの状況は非協力ゲーム</a:t>
            </a:r>
          </a:p>
          <a:p>
            <a:r>
              <a:t>→ ただし、繰り返しゲームでは協力が生まれる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4572000"/>
            <a:ext cx="1828800" cy="914400"/>
          </a:xfrm>
          <a:prstGeom prst="ellipse">
            <a:avLst/>
          </a:prstGeom>
          <a:solidFill>
            <a:srgbClr val="FF63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協力 vs 非協力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その他の重要なゲーム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【チキンゲーム（Chicken Game）】</a:t>
            </a:r>
          </a:p>
          <a:p>
            <a:r>
              <a:t>互いに譲らないと破滅的な結果に</a:t>
            </a:r>
          </a:p>
          <a:p>
            <a:r>
              <a:t>例：労働争議、核軍縮交渉</a:t>
            </a:r>
          </a:p>
          <a:p/>
          <a:p>
            <a:r>
              <a:t>【スタッゲルベルグ競争】</a:t>
            </a:r>
          </a:p>
          <a:p>
            <a:r>
              <a:t>先行者（リーダー）と後行者（フォロワー）</a:t>
            </a:r>
          </a:p>
          <a:p>
            <a:r>
              <a:t>例：市場参入、技術開発競争</a:t>
            </a:r>
          </a:p>
          <a:p/>
          <a:p>
            <a:r>
              <a:t>【バイヤーズジレンマ】</a:t>
            </a:r>
          </a:p>
          <a:p>
            <a:r>
              <a:t>標準化の是非</a:t>
            </a:r>
          </a:p>
          <a:p>
            <a:r>
              <a:t>例：VHS vs Betamax、Blu-ray vs HD DVD</a:t>
            </a:r>
          </a:p>
          <a:p/>
          <a:p>
            <a:r>
              <a:t>【公共財の悲劇】</a:t>
            </a:r>
          </a:p>
          <a:p>
            <a:r>
              <a:t>個人の利益が資源耗竭を招く</a:t>
            </a:r>
          </a:p>
          <a:p>
            <a:r>
              <a:t>例：環境問題、過漁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029200"/>
            <a:ext cx="10058400" cy="548640"/>
          </a:xfrm>
          <a:prstGeom prst="roundRect">
            <a:avLst/>
          </a:prstGeom>
          <a:solidFill>
            <a:srgbClr val="DDA0D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多様なゲームの種類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実世界での応用例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【経済・ビジネス】</a:t>
            </a:r>
          </a:p>
          <a:p>
            <a:r>
              <a:t>・オークション設計（周波数帯域競売）</a:t>
            </a:r>
          </a:p>
          <a:p>
            <a:r>
              <a:t>・プラットフォーム競争（Google vs Apple）</a:t>
            </a:r>
          </a:p>
          <a:p>
            <a:r>
              <a:t>・価格カルテルの監視</a:t>
            </a:r>
          </a:p>
          <a:p/>
          <a:p>
            <a:r>
              <a:t>【政治・国際関係】</a:t>
            </a:r>
          </a:p>
          <a:p>
            <a:r>
              <a:t>・核兵器軍縮交渉</a:t>
            </a:r>
          </a:p>
          <a:p>
            <a:r>
              <a:t>・貿易交渉と関税戦争</a:t>
            </a:r>
          </a:p>
          <a:p>
            <a:r>
              <a:t>・選挙戦略分析</a:t>
            </a:r>
          </a:p>
          <a:p/>
          <a:p>
            <a:r>
              <a:t>【その他】</a:t>
            </a:r>
          </a:p>
          <a:p>
            <a:r>
              <a:t>・サッカーのPK戦（混合戦略）</a:t>
            </a:r>
          </a:p>
          <a:p>
            <a:r>
              <a:t>・交渉術（ウィナーズカース）</a:t>
            </a:r>
          </a:p>
          <a:p>
            <a:r>
              <a:t>・進化（共生関係の形成）</a:t>
            </a:r>
          </a:p>
        </p:txBody>
      </p:sp>
      <p:sp>
        <p:nvSpPr>
          <p:cNvPr id="4" name="Can 3"/>
          <p:cNvSpPr/>
          <p:nvPr/>
        </p:nvSpPr>
        <p:spPr>
          <a:xfrm>
            <a:off x="8229600" y="4572000"/>
            <a:ext cx="1828800" cy="731520"/>
          </a:xfrm>
          <a:prstGeom prst="can">
            <a:avLst/>
          </a:prstGeom>
          <a:solidFill>
            <a:srgbClr val="4169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ゲーム理論の限界と発展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【古典的限界】</a:t>
            </a:r>
          </a:p>
          <a:p>
            <a:r>
              <a:t>・完全理性を仮定（人間は感情的）</a:t>
            </a:r>
          </a:p>
          <a:p>
            <a:r>
              <a:t>・情報の完全性が必要</a:t>
            </a:r>
          </a:p>
          <a:p>
            <a:r>
              <a:t>・均衡選択問題（複数の均衡がある場合）</a:t>
            </a:r>
          </a:p>
          <a:p/>
          <a:p>
            <a:r>
              <a:t>【新しい展開】</a:t>
            </a:r>
          </a:p>
          <a:p>
            <a:r>
              <a:t>・行動経済学との融合</a:t>
            </a:r>
          </a:p>
          <a:p>
            <a:r>
              <a:t>・実験ゲーム理論</a:t>
            </a:r>
          </a:p>
          <a:p>
            <a:r>
              <a:t>・コンピュータシミュレーション</a:t>
            </a:r>
          </a:p>
          <a:p>
            <a:r>
              <a:t>・メカニズム設計（マーケットデザイン）</a:t>
            </a:r>
          </a:p>
          <a:p/>
          <a:p>
            <a:r>
              <a:t>2020年ノーベル賞：オークション理論の発展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8686800" y="4114800"/>
            <a:ext cx="1097280" cy="1097280"/>
          </a:xfrm>
          <a:prstGeom prst="triangle">
            <a:avLst/>
          </a:prstGeom>
          <a:solidFill>
            <a:srgbClr val="FFA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発展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【ゲーム理論の核心】</a:t>
            </a:r>
          </a:p>
          <a:p>
            <a:r>
              <a:t>・個人の合理性が集団最適をもたらさない</a:t>
            </a:r>
          </a:p>
          <a:p>
            <a:r>
              <a:t>・戦略的相互作用を形式化して分析</a:t>
            </a:r>
          </a:p>
          <a:p>
            <a:r>
              <a:t>・ナッシュ均衡が予測の基盤となる</a:t>
            </a:r>
          </a:p>
          <a:p/>
          <a:p>
            <a:r>
              <a:t>【重要なメッセージ】</a:t>
            </a:r>
          </a:p>
          <a:p>
            <a:r>
              <a:t>「相手の行動を予測し、それに最適に反応する」</a:t>
            </a:r>
          </a:p>
          <a:p/>
          <a:p>
            <a:r>
              <a:t>【学ぶ価値】</a:t>
            </a:r>
          </a:p>
          <a:p>
            <a:r>
              <a:t>交渉、経営、政治、日常の意思決定に</a:t>
            </a:r>
          </a:p>
          <a:p>
            <a:r>
              <a:t>幅広く応用可能な思考ツール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0" y="4114800"/>
            <a:ext cx="1371600" cy="1371600"/>
          </a:xfrm>
          <a:prstGeom prst="pentagon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